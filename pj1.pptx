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58" r:id="rId8"/>
    <p:sldId id="261" r:id="rId9"/>
    <p:sldId id="262" r:id="rId10"/>
  </p:sldIdLst>
  <p:sldSz cx="14630400" cy="8229600"/>
  <p:notesSz cx="8229600" cy="14630400"/>
  <p:embeddedFontLst>
    <p:embeddedFont>
      <p:font typeface="Segoe UI Light" panose="020B0502040204020203" pitchFamily="34" charset="0"/>
      <p:regular r:id="rId14"/>
      <p:italic r:id="rId15"/>
    </p:embeddedFont>
    <p:embeddedFont>
      <p:font typeface="微软雅黑 Light" panose="020B0502040204020203" pitchFamily="34" charset="-122"/>
      <p:regular r:id="rId16"/>
    </p:embeddedFont>
    <p:embeddedFont>
      <p:font typeface="等线" panose="02010600030101010101" charset="-122"/>
      <p:regular r:id="rId1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 autoAdjust="0"/>
  </p:normalViewPr>
  <p:slideViewPr>
    <p:cSldViewPr snapToGrid="0" snapToObjects="1">
      <p:cViewPr varScale="1">
        <p:scale>
          <a:sx n="131" d="100"/>
          <a:sy n="131" d="100"/>
        </p:scale>
        <p:origin x="4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5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emf"/><Relationship Id="rId1" Type="http://schemas.openxmlformats.org/officeDocument/2006/relationships/package" Target="../embeddings/Document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655213"/>
            <a:ext cx="6172200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1B1B27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PJ1 </a:t>
            </a:r>
            <a:r>
              <a:rPr lang="en-US" sz="4850" dirty="0" err="1">
                <a:solidFill>
                  <a:srgbClr val="1B1B27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说明</a:t>
            </a:r>
            <a:endParaRPr lang="en-US" sz="48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50437" y="3797022"/>
            <a:ext cx="74159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03/20</a:t>
            </a:r>
            <a:endParaRPr lang="en-US" sz="19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0437" y="4469725"/>
            <a:ext cx="74159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@2026 </a:t>
            </a: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软件测试</a:t>
            </a:r>
            <a:endParaRPr lang="en-US" sz="19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350437" y="5160883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38914"/>
            <a:ext cx="6172200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002060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PJ1 </a:t>
            </a:r>
            <a:r>
              <a:rPr lang="zh-CN" altLang="en-US" sz="4850" dirty="0">
                <a:solidFill>
                  <a:srgbClr val="002060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软件项目测试</a:t>
            </a:r>
            <a:endParaRPr lang="en-US" sz="4850" dirty="0">
              <a:solidFill>
                <a:srgbClr val="002060"/>
              </a:solidFill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4037" y="2883559"/>
            <a:ext cx="2947868" cy="246817"/>
          </a:xfrm>
          <a:prstGeom prst="roundRect">
            <a:avLst>
              <a:gd name="adj" fmla="val 42012"/>
            </a:avLst>
          </a:prstGeom>
          <a:solidFill>
            <a:srgbClr val="E6E9FC"/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037" y="3500660"/>
            <a:ext cx="2947868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zh-CN" altLang="en-US" sz="2400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设计测试计划</a:t>
            </a:r>
            <a:endParaRPr lang="en-US" sz="2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4037" y="4034536"/>
            <a:ext cx="2947868" cy="1185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小组合作，</a:t>
            </a: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分析项目</a:t>
            </a: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的测试</a:t>
            </a: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需求，根据模板撰写</a:t>
            </a:r>
            <a:r>
              <a:rPr lang="en-US" sz="1900" b="1" dirty="0" err="1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《项目测试计划书</a:t>
            </a:r>
            <a:r>
              <a:rPr lang="en-US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》</a:t>
            </a:r>
            <a:r>
              <a:rPr lang="zh-CN" altLang="en-US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（附件</a:t>
            </a:r>
            <a:r>
              <a:rPr lang="en-US" altLang="zh-CN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1</a:t>
            </a:r>
            <a:r>
              <a:rPr lang="zh-CN" altLang="en-US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）</a:t>
            </a:r>
            <a:endParaRPr lang="en-US" sz="1900" b="1" dirty="0">
              <a:solidFill>
                <a:schemeClr val="accent4">
                  <a:lumMod val="50000"/>
                </a:schemeClr>
              </a:solidFill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82189" y="2513156"/>
            <a:ext cx="2947868" cy="246817"/>
          </a:xfrm>
          <a:prstGeom prst="roundRect">
            <a:avLst>
              <a:gd name="adj" fmla="val 42012"/>
            </a:avLst>
          </a:prstGeom>
          <a:solidFill>
            <a:srgbClr val="E6E9FC"/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82189" y="3130256"/>
            <a:ext cx="2947868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设计测试用例</a:t>
            </a:r>
            <a:endParaRPr lang="en-US" sz="2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82189" y="3664133"/>
            <a:ext cx="2947868" cy="19752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设计单元测试用例测试service中的函数，集成测试用例测试controller类中的功能模块，并</a:t>
            </a: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填写</a:t>
            </a:r>
            <a:r>
              <a:rPr lang="en-US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《</a:t>
            </a:r>
            <a:r>
              <a:rPr lang="en-US" sz="1900" b="1" dirty="0" err="1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测试用例设计文档</a:t>
            </a:r>
            <a:r>
              <a:rPr lang="en-US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》</a:t>
            </a:r>
            <a:r>
              <a:rPr lang="zh-CN" altLang="en-US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（附件</a:t>
            </a:r>
            <a:r>
              <a:rPr lang="en-US" altLang="zh-CN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2</a:t>
            </a:r>
            <a:r>
              <a:rPr lang="zh-CN" altLang="en-US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）</a:t>
            </a:r>
            <a:endParaRPr lang="en-US" sz="1900" b="1" dirty="0">
              <a:solidFill>
                <a:schemeClr val="accent4">
                  <a:lumMod val="50000"/>
                </a:schemeClr>
              </a:solidFill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00342" y="2058946"/>
            <a:ext cx="2947868" cy="246817"/>
          </a:xfrm>
          <a:prstGeom prst="roundRect">
            <a:avLst>
              <a:gd name="adj" fmla="val 42012"/>
            </a:avLst>
          </a:prstGeom>
          <a:solidFill>
            <a:srgbClr val="E6E9FC"/>
          </a:solidFill>
          <a:ln w="3048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500342" y="2567091"/>
            <a:ext cx="2947868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编写测试脚本</a:t>
            </a:r>
            <a:endParaRPr lang="en-US" sz="2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00342" y="3019255"/>
            <a:ext cx="2947868" cy="1185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基于junit框架编写单元测试和集成测试脚本完成测试任务</a:t>
            </a: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，最后编写</a:t>
            </a:r>
            <a:r>
              <a:rPr lang="en-US" altLang="zh-CN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</a:rPr>
              <a:t>《</a:t>
            </a:r>
            <a:r>
              <a:rPr lang="zh-CN" altLang="zh-CN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</a:rPr>
              <a:t>测试总结报告</a:t>
            </a:r>
            <a:r>
              <a:rPr lang="en-US" altLang="zh-CN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</a:rPr>
              <a:t>》</a:t>
            </a:r>
            <a:r>
              <a:rPr lang="zh-CN" altLang="en-US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</a:rPr>
              <a:t>（附件</a:t>
            </a:r>
            <a:r>
              <a:rPr lang="en-US" altLang="zh-CN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</a:rPr>
              <a:t>3</a:t>
            </a:r>
            <a:r>
              <a:rPr lang="zh-CN" altLang="en-US" sz="1900" b="1" dirty="0">
                <a:solidFill>
                  <a:schemeClr val="accent4">
                    <a:lumMod val="50000"/>
                  </a:schemeClr>
                </a:solidFill>
                <a:latin typeface="Segoe UI Light" panose="020B0502040204020203" pitchFamily="34" charset="0"/>
                <a:ea typeface="微软雅黑 Light" panose="020B0502040204020203" pitchFamily="34" charset="-122"/>
              </a:rPr>
              <a:t>）</a:t>
            </a:r>
            <a:endParaRPr lang="en-US" sz="1900" b="1" dirty="0">
              <a:solidFill>
                <a:schemeClr val="accent4">
                  <a:lumMod val="50000"/>
                </a:schemeClr>
              </a:solidFill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6186" y="367141"/>
            <a:ext cx="3700597" cy="42372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l="2314" r="3399"/>
          <a:stretch>
            <a:fillRect/>
          </a:stretch>
        </p:blipFill>
        <p:spPr>
          <a:xfrm>
            <a:off x="570122" y="5771869"/>
            <a:ext cx="3380015" cy="21439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l="4803" t="20677" r="39711" b="-1642"/>
          <a:stretch>
            <a:fillRect/>
          </a:stretch>
        </p:blipFill>
        <p:spPr>
          <a:xfrm>
            <a:off x="4047525" y="6150916"/>
            <a:ext cx="3217195" cy="17821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图片 14" descr="截屏2023-03-10 16.53.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304" y="4669018"/>
            <a:ext cx="4656720" cy="32640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4037" y="4114800"/>
            <a:ext cx="6172200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zh-CN" altLang="en-US" sz="4850" dirty="0">
                <a:solidFill>
                  <a:srgbClr val="1B1B27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测试用例任务一：编写单元测试</a:t>
            </a:r>
            <a:endParaRPr lang="en-US" sz="48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5256609"/>
            <a:ext cx="617220" cy="617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6120646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Service层函数</a:t>
            </a:r>
            <a:endParaRPr lang="en-US" sz="2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6" name="Text 2"/>
          <p:cNvSpPr/>
          <p:nvPr/>
        </p:nvSpPr>
        <p:spPr>
          <a:xfrm>
            <a:off x="864037" y="6654522"/>
            <a:ext cx="4053840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针对service中的</a:t>
            </a: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单个</a:t>
            </a:r>
            <a:r>
              <a:rPr lang="en-US" sz="1900" b="1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函数</a:t>
            </a: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进行单元测试</a:t>
            </a:r>
            <a:r>
              <a:rPr 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，</a:t>
            </a: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验证后端</a:t>
            </a: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功能单元</a:t>
            </a: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是否</a:t>
            </a: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正常工作</a:t>
            </a:r>
            <a:endParaRPr lang="en-US" sz="19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161" y="5256609"/>
            <a:ext cx="617220" cy="617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88161" y="6120646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测试框架</a:t>
            </a:r>
            <a:endParaRPr lang="en-US" sz="2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9" name="Text 4"/>
          <p:cNvSpPr/>
          <p:nvPr/>
        </p:nvSpPr>
        <p:spPr>
          <a:xfrm>
            <a:off x="5288161" y="6654522"/>
            <a:ext cx="4053959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基于junit框架编写单元测试脚本</a:t>
            </a:r>
            <a:endParaRPr lang="en-US" sz="19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404" y="5256609"/>
            <a:ext cx="617220" cy="617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2404" y="6120646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zh-CN" altLang="en-US" sz="2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rPr>
              <a:t>结果归档</a:t>
            </a:r>
            <a:endParaRPr lang="en-US" sz="2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712404" y="6654522"/>
            <a:ext cx="4053840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《测试用例设计文档》记录测试过程和结果</a:t>
            </a:r>
            <a:endParaRPr lang="en-US" sz="19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974" y="249972"/>
            <a:ext cx="9534525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4037" y="1321951"/>
            <a:ext cx="6172200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zh-CN" altLang="en-US" sz="4850" dirty="0">
                <a:solidFill>
                  <a:srgbClr val="1B1B27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测试用例任务二：编写</a:t>
            </a:r>
            <a:r>
              <a:rPr lang="en-US" sz="4850" dirty="0" err="1">
                <a:solidFill>
                  <a:srgbClr val="1B1B27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集成测试</a:t>
            </a:r>
            <a:endParaRPr lang="en-US" sz="48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2463760"/>
            <a:ext cx="1234440" cy="14812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68761" y="2710577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Controller类</a:t>
            </a:r>
            <a:endParaRPr lang="en-US" sz="2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6" name="Text 2"/>
          <p:cNvSpPr/>
          <p:nvPr/>
        </p:nvSpPr>
        <p:spPr>
          <a:xfrm>
            <a:off x="2468762" y="3208971"/>
            <a:ext cx="4143368" cy="9002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测试</a:t>
            </a: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每个</a:t>
            </a: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controller类</a:t>
            </a: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中的所有接口，目标是</a:t>
            </a:r>
            <a:endParaRPr lang="en-US" altLang="zh-CN" sz="1900" dirty="0">
              <a:solidFill>
                <a:srgbClr val="404155"/>
              </a:solidFill>
              <a:latin typeface="Segoe UI Light" panose="020B0502040204020203" pitchFamily="34" charset="0"/>
              <a:ea typeface="微软雅黑 Light" panose="020B0502040204020203" pitchFamily="34" charset="-122"/>
              <a:cs typeface="Nobile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验证一组完整的前端请求是否可以被正确处理</a:t>
            </a:r>
            <a:endParaRPr lang="en-US" sz="19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37" y="3945017"/>
            <a:ext cx="1234440" cy="14812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68761" y="4191833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zh-CN" altLang="en-US" sz="2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功能点组合</a:t>
            </a:r>
            <a:endParaRPr lang="en-US" sz="2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9" name="Text 4"/>
          <p:cNvSpPr/>
          <p:nvPr/>
        </p:nvSpPr>
        <p:spPr>
          <a:xfrm>
            <a:off x="2468762" y="4660226"/>
            <a:ext cx="5811203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观察和理解每个接口具有的功能，以及其</a:t>
            </a:r>
            <a:endParaRPr lang="en-US" altLang="zh-CN" sz="1900" dirty="0">
              <a:solidFill>
                <a:srgbClr val="404155"/>
              </a:solidFill>
              <a:latin typeface="Segoe UI Light" panose="020B0502040204020203" pitchFamily="34" charset="0"/>
              <a:ea typeface="微软雅黑 Light" panose="020B0502040204020203" pitchFamily="34" charset="-122"/>
              <a:cs typeface="Nobile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组合，针对不同功能点设计用例。</a:t>
            </a:r>
            <a:endParaRPr lang="en-US" sz="19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5426273"/>
            <a:ext cx="1234440" cy="14812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68761" y="5673090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集成</a:t>
            </a:r>
            <a:r>
              <a:rPr lang="zh-CN" altLang="en-US" sz="2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测试</a:t>
            </a:r>
            <a:endParaRPr lang="en-US" sz="2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468761" y="6206966"/>
            <a:ext cx="5811203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编写</a:t>
            </a:r>
            <a:r>
              <a:rPr lang="en-US" altLang="zh-CN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junit</a:t>
            </a: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代码，测试</a:t>
            </a: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集成后</a:t>
            </a: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的代码是否</a:t>
            </a:r>
            <a:endParaRPr lang="en-US" altLang="zh-CN" sz="1900" dirty="0">
              <a:solidFill>
                <a:srgbClr val="404155"/>
              </a:solidFill>
              <a:latin typeface="Segoe UI Light" panose="020B0502040204020203" pitchFamily="34" charset="0"/>
              <a:ea typeface="微软雅黑 Light" panose="020B0502040204020203" pitchFamily="34" charset="-122"/>
              <a:cs typeface="Nobile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能够正常工作</a:t>
            </a:r>
            <a:endParaRPr lang="en-US" sz="19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171" y="2886719"/>
            <a:ext cx="6949688" cy="41203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738" y="643652"/>
            <a:ext cx="5716905" cy="714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500" dirty="0" err="1">
                <a:solidFill>
                  <a:srgbClr val="1B1B27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测试用例</a:t>
            </a:r>
            <a:r>
              <a:rPr lang="en-US" sz="4500" dirty="0">
                <a:solidFill>
                  <a:srgbClr val="1B1B27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 </a:t>
            </a:r>
            <a:r>
              <a:rPr lang="zh-CN" altLang="en-US" sz="4500" dirty="0">
                <a:solidFill>
                  <a:srgbClr val="1B1B27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构造指南</a:t>
            </a:r>
            <a:endParaRPr lang="en-US" sz="45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6738" y="1701165"/>
            <a:ext cx="7543324" cy="1809155"/>
          </a:xfrm>
          <a:prstGeom prst="roundRect">
            <a:avLst>
              <a:gd name="adj" fmla="val 5309"/>
            </a:avLst>
          </a:prstGeom>
          <a:solidFill>
            <a:srgbClr val="E6E9FC"/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38198" y="1952625"/>
            <a:ext cx="2858453" cy="357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5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黑盒测试技术</a:t>
            </a:r>
            <a:endParaRPr lang="en-US" sz="22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38198" y="2447092"/>
            <a:ext cx="7040404" cy="3658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等价类划分</a:t>
            </a:r>
            <a:endParaRPr lang="en-US" sz="18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38198" y="2892981"/>
            <a:ext cx="7040404" cy="3658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边界值分析</a:t>
            </a:r>
            <a:endParaRPr lang="en-US" sz="18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86738" y="3738920"/>
            <a:ext cx="7543324" cy="1809155"/>
          </a:xfrm>
          <a:prstGeom prst="roundRect">
            <a:avLst>
              <a:gd name="adj" fmla="val 5309"/>
            </a:avLst>
          </a:prstGeom>
          <a:solidFill>
            <a:srgbClr val="E6E9FC"/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8198" y="3990380"/>
            <a:ext cx="2858453" cy="357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5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白盒测试技术</a:t>
            </a:r>
            <a:endParaRPr lang="en-US" sz="22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38198" y="4484846"/>
            <a:ext cx="7040404" cy="3658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语句覆盖</a:t>
            </a:r>
            <a:endParaRPr lang="en-US" sz="18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38198" y="4930735"/>
            <a:ext cx="7040404" cy="3658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判定覆盖</a:t>
            </a:r>
            <a:endParaRPr lang="en-US" sz="18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86738" y="5776674"/>
            <a:ext cx="7543324" cy="1809155"/>
          </a:xfrm>
          <a:prstGeom prst="roundRect">
            <a:avLst>
              <a:gd name="adj" fmla="val 5309"/>
            </a:avLst>
          </a:prstGeom>
          <a:solidFill>
            <a:srgbClr val="E6E9FC"/>
          </a:solidFill>
          <a:ln w="2286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538198" y="6028134"/>
            <a:ext cx="2858453" cy="3573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5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设计原则</a:t>
            </a:r>
            <a:endParaRPr lang="en-US" sz="22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538198" y="6522601"/>
            <a:ext cx="7040404" cy="3658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考虑测试完整性</a:t>
            </a:r>
            <a:endParaRPr lang="en-US" sz="18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38198" y="6968490"/>
            <a:ext cx="7040404" cy="3658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减少测试用例冗余</a:t>
            </a:r>
            <a:endParaRPr lang="en-US" sz="18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357" y="600075"/>
            <a:ext cx="5446038" cy="680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350"/>
              </a:lnSpc>
              <a:buNone/>
            </a:pPr>
            <a:r>
              <a:rPr lang="en-US" sz="4250" dirty="0">
                <a:solidFill>
                  <a:srgbClr val="1B1B27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提交说明</a:t>
            </a:r>
            <a:endParaRPr lang="en-US" sz="42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007388" y="1607463"/>
            <a:ext cx="30480" cy="6022062"/>
          </a:xfrm>
          <a:prstGeom prst="roundRect">
            <a:avLst>
              <a:gd name="adj" fmla="val 300177"/>
            </a:avLst>
          </a:prstGeom>
          <a:solidFill>
            <a:srgbClr val="B8BFDF"/>
          </a:solidFill>
        </p:spPr>
      </p:sp>
      <p:sp>
        <p:nvSpPr>
          <p:cNvPr id="5" name="Shape 2"/>
          <p:cNvSpPr/>
          <p:nvPr/>
        </p:nvSpPr>
        <p:spPr>
          <a:xfrm>
            <a:off x="1221938" y="2082284"/>
            <a:ext cx="653415" cy="30480"/>
          </a:xfrm>
          <a:prstGeom prst="roundRect">
            <a:avLst>
              <a:gd name="adj" fmla="val 300177"/>
            </a:avLst>
          </a:prstGeom>
          <a:solidFill>
            <a:srgbClr val="B8BFDF"/>
          </a:solidFill>
        </p:spPr>
      </p:sp>
      <p:sp>
        <p:nvSpPr>
          <p:cNvPr id="6" name="Shape 3"/>
          <p:cNvSpPr/>
          <p:nvPr/>
        </p:nvSpPr>
        <p:spPr>
          <a:xfrm>
            <a:off x="762357" y="1852493"/>
            <a:ext cx="490061" cy="490061"/>
          </a:xfrm>
          <a:prstGeom prst="roundRect">
            <a:avLst>
              <a:gd name="adj" fmla="val 18670"/>
            </a:avLst>
          </a:prstGeom>
          <a:solidFill>
            <a:srgbClr val="E6E9FC"/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4034" y="1893332"/>
            <a:ext cx="326707" cy="408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1</a:t>
            </a:r>
            <a:endParaRPr lang="en-US" sz="25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2096572" y="1825228"/>
            <a:ext cx="2722959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文档准备</a:t>
            </a:r>
            <a:endParaRPr lang="en-US" sz="21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2096572" y="2296120"/>
            <a:ext cx="6285071" cy="6972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将《</a:t>
            </a:r>
            <a:r>
              <a:rPr lang="zh-CN" alt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软件</a:t>
            </a:r>
            <a:r>
              <a:rPr lang="en-US" sz="17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测试计划书</a:t>
            </a:r>
            <a:r>
              <a:rPr 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》</a:t>
            </a:r>
            <a:r>
              <a:rPr lang="zh-CN" alt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（附件</a:t>
            </a:r>
            <a:r>
              <a:rPr lang="en-US" altLang="zh-CN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1</a:t>
            </a:r>
            <a:r>
              <a:rPr lang="zh-CN" alt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）、</a:t>
            </a:r>
            <a:r>
              <a:rPr 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《</a:t>
            </a:r>
            <a:r>
              <a:rPr lang="en-US" sz="17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测试用例设计文档</a:t>
            </a:r>
            <a:r>
              <a:rPr 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》</a:t>
            </a:r>
            <a:r>
              <a:rPr lang="zh-CN" alt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 （附件</a:t>
            </a:r>
            <a:r>
              <a:rPr lang="en-US" altLang="zh-CN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2</a:t>
            </a:r>
            <a:r>
              <a:rPr lang="zh-CN" alt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） </a:t>
            </a:r>
            <a:r>
              <a:rPr 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、《</a:t>
            </a:r>
            <a:r>
              <a:rPr lang="en-US" sz="17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测试总结</a:t>
            </a:r>
            <a:r>
              <a:rPr 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》</a:t>
            </a:r>
            <a:r>
              <a:rPr lang="zh-CN" alt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 （附件</a:t>
            </a:r>
            <a:r>
              <a:rPr lang="en-US" altLang="zh-CN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3</a:t>
            </a:r>
            <a:r>
              <a:rPr lang="zh-CN" alt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） </a:t>
            </a:r>
            <a:r>
              <a:rPr lang="en-US" sz="1700" dirty="0" err="1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输出为pdf格式</a:t>
            </a:r>
            <a:endParaRPr lang="en-US" sz="17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221938" y="3903702"/>
            <a:ext cx="653415" cy="30480"/>
          </a:xfrm>
          <a:prstGeom prst="roundRect">
            <a:avLst>
              <a:gd name="adj" fmla="val 300177"/>
            </a:avLst>
          </a:prstGeom>
          <a:solidFill>
            <a:srgbClr val="B8BFDF"/>
          </a:solidFill>
        </p:spPr>
      </p:sp>
      <p:sp>
        <p:nvSpPr>
          <p:cNvPr id="11" name="Shape 8"/>
          <p:cNvSpPr/>
          <p:nvPr/>
        </p:nvSpPr>
        <p:spPr>
          <a:xfrm>
            <a:off x="762357" y="3673912"/>
            <a:ext cx="490061" cy="490061"/>
          </a:xfrm>
          <a:prstGeom prst="roundRect">
            <a:avLst>
              <a:gd name="adj" fmla="val 18670"/>
            </a:avLst>
          </a:prstGeom>
          <a:solidFill>
            <a:srgbClr val="E6E9FC"/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034" y="3714750"/>
            <a:ext cx="326707" cy="408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2</a:t>
            </a:r>
            <a:endParaRPr lang="en-US" sz="25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096572" y="3646646"/>
            <a:ext cx="2722959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代码整理</a:t>
            </a:r>
            <a:endParaRPr lang="en-US" sz="21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096572" y="4117538"/>
            <a:ext cx="6285071" cy="3486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整理包含测试脚本的源码</a:t>
            </a:r>
            <a:endParaRPr lang="en-US" sz="17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221938" y="5376505"/>
            <a:ext cx="653415" cy="30480"/>
          </a:xfrm>
          <a:prstGeom prst="roundRect">
            <a:avLst>
              <a:gd name="adj" fmla="val 300177"/>
            </a:avLst>
          </a:prstGeom>
          <a:solidFill>
            <a:srgbClr val="B8BFDF"/>
          </a:solidFill>
        </p:spPr>
      </p:sp>
      <p:sp>
        <p:nvSpPr>
          <p:cNvPr id="16" name="Shape 13"/>
          <p:cNvSpPr/>
          <p:nvPr/>
        </p:nvSpPr>
        <p:spPr>
          <a:xfrm>
            <a:off x="762357" y="5146715"/>
            <a:ext cx="490061" cy="490061"/>
          </a:xfrm>
          <a:prstGeom prst="roundRect">
            <a:avLst>
              <a:gd name="adj" fmla="val 18670"/>
            </a:avLst>
          </a:prstGeom>
          <a:solidFill>
            <a:srgbClr val="E6E9FC"/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4034" y="5187553"/>
            <a:ext cx="326707" cy="408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3</a:t>
            </a:r>
            <a:endParaRPr lang="en-US" sz="25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096572" y="5119449"/>
            <a:ext cx="2722959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打包提交</a:t>
            </a:r>
            <a:endParaRPr lang="en-US" sz="21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096572" y="5590342"/>
            <a:ext cx="6285071" cy="3486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将文档与源码一起打包为"PJ1-小组编号.zip"压缩包</a:t>
            </a:r>
            <a:endParaRPr lang="en-US" sz="17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221938" y="6849308"/>
            <a:ext cx="653415" cy="30480"/>
          </a:xfrm>
          <a:prstGeom prst="roundRect">
            <a:avLst>
              <a:gd name="adj" fmla="val 300177"/>
            </a:avLst>
          </a:prstGeom>
          <a:solidFill>
            <a:srgbClr val="B8BFDF"/>
          </a:solidFill>
        </p:spPr>
      </p:sp>
      <p:sp>
        <p:nvSpPr>
          <p:cNvPr id="21" name="Shape 18"/>
          <p:cNvSpPr/>
          <p:nvPr/>
        </p:nvSpPr>
        <p:spPr>
          <a:xfrm>
            <a:off x="762357" y="6619518"/>
            <a:ext cx="490061" cy="490061"/>
          </a:xfrm>
          <a:prstGeom prst="roundRect">
            <a:avLst>
              <a:gd name="adj" fmla="val 18670"/>
            </a:avLst>
          </a:prstGeom>
          <a:solidFill>
            <a:srgbClr val="E6E9FC"/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4034" y="6660356"/>
            <a:ext cx="326707" cy="408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4</a:t>
            </a:r>
            <a:endParaRPr lang="en-US" sz="25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096572" y="6592253"/>
            <a:ext cx="2722959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上传平台</a:t>
            </a:r>
            <a:endParaRPr lang="en-US" sz="21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096572" y="7063145"/>
            <a:ext cx="6285071" cy="3486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将压缩包上传至elearning</a:t>
            </a:r>
            <a:endParaRPr lang="en-US" sz="17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9440347" y="1214953"/>
          <a:ext cx="3841750" cy="650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1" imgW="5274310" imgH="8927465" progId="Word.Document.12">
                  <p:embed/>
                </p:oleObj>
              </mc:Choice>
              <mc:Fallback>
                <p:oleObj name="Document" r:id="rId1" imgW="5274310" imgH="8927465" progId="Word.Documen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440347" y="1214953"/>
                        <a:ext cx="3841750" cy="650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98220"/>
            <a:ext cx="6172200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zh-CN" altLang="en-US" sz="4850" dirty="0">
                <a:solidFill>
                  <a:srgbClr val="1B1B27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重要</a:t>
            </a:r>
            <a:r>
              <a:rPr lang="en-US" sz="4850" dirty="0">
                <a:solidFill>
                  <a:srgbClr val="1B1B27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日期</a:t>
            </a:r>
            <a:endParaRPr lang="en-US" sz="485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50437" y="4687585"/>
            <a:ext cx="7415927" cy="8146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4月26日</a:t>
            </a:r>
            <a:endParaRPr lang="en-US" sz="6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8515350" y="5810702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altLang="zh-CN" sz="2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PJ1 </a:t>
            </a:r>
            <a:r>
              <a:rPr lang="en-US" sz="2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Corben" pitchFamily="34" charset="-120"/>
              </a:rPr>
              <a:t>提交截止日</a:t>
            </a:r>
            <a:endParaRPr lang="en-US" sz="2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50437" y="6312250"/>
            <a:ext cx="74159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截止时间</a:t>
            </a:r>
            <a:r>
              <a:rPr 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为4月26日24:00</a:t>
            </a:r>
            <a:endParaRPr lang="en-US" sz="19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50437" y="6836331"/>
            <a:ext cx="74159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如超过期限将酌情扣分</a:t>
            </a:r>
            <a:endParaRPr lang="en-US" sz="19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367246" y="2172471"/>
            <a:ext cx="7415927" cy="8146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zh-CN" altLang="en-US" sz="6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rPr>
              <a:t>第</a:t>
            </a:r>
            <a:r>
              <a:rPr lang="en-US" altLang="zh-CN" sz="6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rPr>
              <a:t>8</a:t>
            </a:r>
            <a:r>
              <a:rPr lang="zh-CN" altLang="en-US" sz="64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rPr>
              <a:t>周</a:t>
            </a:r>
            <a:endParaRPr lang="en-US" sz="64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350437" y="3194592"/>
            <a:ext cx="74159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altLang="zh-CN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4月24日  </a:t>
            </a:r>
            <a:r>
              <a:rPr 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PJ1 </a:t>
            </a:r>
            <a:r>
              <a:rPr lang="zh-CN" altLang="en-US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小组</a:t>
            </a:r>
            <a:r>
              <a:rPr lang="en-US" altLang="zh-CN" sz="1900" dirty="0">
                <a:solidFill>
                  <a:srgbClr val="404155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Nobile" pitchFamily="34" charset="-120"/>
              </a:rPr>
              <a:t>Pre</a:t>
            </a:r>
            <a:endParaRPr lang="en-US" sz="1900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Segoe UI Light"/>
        <a:ea typeface="微软雅黑 Light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WPS 演示</Application>
  <PresentationFormat>自定义</PresentationFormat>
  <Paragraphs>111</Paragraphs>
  <Slides>7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Segoe UI Light</vt:lpstr>
      <vt:lpstr>微软雅黑 Light</vt:lpstr>
      <vt:lpstr>Corben</vt:lpstr>
      <vt:lpstr>MingLiU-ExtB</vt:lpstr>
      <vt:lpstr>Nobile</vt:lpstr>
      <vt:lpstr>微软雅黑</vt:lpstr>
      <vt:lpstr>Arial Unicode MS</vt:lpstr>
      <vt:lpstr>等线</vt:lpstr>
      <vt:lpstr>Calibri</vt:lpstr>
      <vt:lpstr>Office Theme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陈雅南</cp:lastModifiedBy>
  <cp:revision>23</cp:revision>
  <dcterms:created xsi:type="dcterms:W3CDTF">2025-03-13T13:41:00Z</dcterms:created>
  <dcterms:modified xsi:type="dcterms:W3CDTF">2026-03-20T07:29:46Z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1F42F41D341048C68D8E8B81C4259B73_12</vt:lpwstr>
  </property>
  <property fmtid="{D5CDD505-2E9C-101B-9397-08002B2CF9AE}" pid="3" name="KSOProductBuildVer">
    <vt:lpwstr>2052-12.1.0.23542</vt:lpwstr>
  </property>
</Properties>
</file>